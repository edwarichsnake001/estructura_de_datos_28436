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S Deniz Bold" charset="1" panose="00000800000000000000"/>
      <p:regular r:id="rId20"/>
    </p:embeddedFont>
    <p:embeddedFont>
      <p:font typeface="Helios Bold" charset="1" panose="020B0704020202020204"/>
      <p:regular r:id="rId21"/>
    </p:embeddedFont>
    <p:embeddedFont>
      <p:font typeface="Helios" charset="1" panose="020B0504020202020204"/>
      <p:regular r:id="rId22"/>
    </p:embeddedFont>
    <p:embeddedFont>
      <p:font typeface="Arimo Bold" charset="1" panose="020B0704020202020204"/>
      <p:regular r:id="rId23"/>
    </p:embeddedFont>
    <p:embeddedFont>
      <p:font typeface="Open Sans Bold" charset="1" panose="020B08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009650"/>
            <a:ext cx="12867103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-3185427" y="8404843"/>
            <a:ext cx="7715406" cy="3535431"/>
            <a:chOff x="0" y="0"/>
            <a:chExt cx="88689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6891" cy="406400"/>
            </a:xfrm>
            <a:custGeom>
              <a:avLst/>
              <a:gdLst/>
              <a:ahLst/>
              <a:cxnLst/>
              <a:rect r="r" b="b" t="t" l="l"/>
              <a:pathLst>
                <a:path h="406400" w="886891">
                  <a:moveTo>
                    <a:pt x="683691" y="0"/>
                  </a:moveTo>
                  <a:cubicBezTo>
                    <a:pt x="795915" y="0"/>
                    <a:pt x="886891" y="90976"/>
                    <a:pt x="886891" y="203200"/>
                  </a:cubicBezTo>
                  <a:cubicBezTo>
                    <a:pt x="886891" y="315424"/>
                    <a:pt x="795915" y="406400"/>
                    <a:pt x="6836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8689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4081410" y="-1868588"/>
            <a:ext cx="7426906" cy="3737176"/>
            <a:chOff x="0" y="0"/>
            <a:chExt cx="80764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9723" y="2305612"/>
            <a:ext cx="15015477" cy="266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b="true" sz="7646" spc="-252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OPERACIONES BÁSICAS CON ÁRBOLES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15751254" y="2375175"/>
            <a:ext cx="959812" cy="95981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7849" y="6229506"/>
            <a:ext cx="1212142" cy="1165796"/>
            <a:chOff x="0" y="0"/>
            <a:chExt cx="1616189" cy="155439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554394" cy="155439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DF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07634" y="45839"/>
              <a:ext cx="1508555" cy="1508555"/>
            </a:xfrm>
            <a:custGeom>
              <a:avLst/>
              <a:gdLst/>
              <a:ahLst/>
              <a:cxnLst/>
              <a:rect r="r" b="b" t="t" l="l"/>
              <a:pathLst>
                <a:path h="1508555" w="1508555">
                  <a:moveTo>
                    <a:pt x="0" y="0"/>
                  </a:moveTo>
                  <a:lnTo>
                    <a:pt x="1508555" y="0"/>
                  </a:lnTo>
                  <a:lnTo>
                    <a:pt x="1508555" y="1508555"/>
                  </a:lnTo>
                  <a:lnTo>
                    <a:pt x="0" y="1508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-5400000">
            <a:off x="13895803" y="-2200160"/>
            <a:ext cx="3899060" cy="3899060"/>
          </a:xfrm>
          <a:custGeom>
            <a:avLst/>
            <a:gdLst/>
            <a:ahLst/>
            <a:cxnLst/>
            <a:rect r="r" b="b" t="t" l="l"/>
            <a:pathLst>
              <a:path h="3899060" w="3899060">
                <a:moveTo>
                  <a:pt x="0" y="0"/>
                </a:moveTo>
                <a:lnTo>
                  <a:pt x="3899060" y="0"/>
                </a:lnTo>
                <a:lnTo>
                  <a:pt x="3899060" y="3899060"/>
                </a:lnTo>
                <a:lnTo>
                  <a:pt x="0" y="3899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0757807" y="6334618"/>
            <a:ext cx="697179" cy="1898261"/>
          </a:xfrm>
          <a:custGeom>
            <a:avLst/>
            <a:gdLst/>
            <a:ahLst/>
            <a:cxnLst/>
            <a:rect r="r" b="b" t="t" l="l"/>
            <a:pathLst>
              <a:path h="1898261" w="697179">
                <a:moveTo>
                  <a:pt x="0" y="0"/>
                </a:moveTo>
                <a:lnTo>
                  <a:pt x="697180" y="0"/>
                </a:lnTo>
                <a:lnTo>
                  <a:pt x="697180" y="1898261"/>
                </a:lnTo>
                <a:lnTo>
                  <a:pt x="0" y="189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99181" y="6181881"/>
            <a:ext cx="5258626" cy="23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B8BB87"/>
                </a:solidFill>
                <a:latin typeface="Helios Bold"/>
                <a:ea typeface="Helios Bold"/>
                <a:cs typeface="Helios Bold"/>
                <a:sym typeface="Helios Bold"/>
              </a:rPr>
              <a:t>Realizado por: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B8BB87"/>
                </a:solidFill>
                <a:latin typeface="Helios Bold"/>
                <a:ea typeface="Helios Bold"/>
                <a:cs typeface="Helios Bold"/>
                <a:sym typeface="Helios Bold"/>
              </a:rPr>
              <a:t>Bonilla Caiza David Alejandro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B8BB87"/>
                </a:solidFill>
                <a:latin typeface="Helios Bold"/>
                <a:ea typeface="Helios Bold"/>
                <a:cs typeface="Helios Bold"/>
                <a:sym typeface="Helios Bold"/>
              </a:rPr>
              <a:t>Andrade Chicaiza Julio Aaron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B8BB87"/>
                </a:solidFill>
                <a:latin typeface="Helios Bold"/>
                <a:ea typeface="Helios Bold"/>
                <a:cs typeface="Helios Bold"/>
                <a:sym typeface="Helios Bold"/>
              </a:rPr>
              <a:t>Quiroz Herrera María Laura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B8BB87"/>
                </a:solidFill>
                <a:latin typeface="Helios Bold"/>
                <a:ea typeface="Helios Bold"/>
                <a:cs typeface="Helios Bold"/>
                <a:sym typeface="Helios Bold"/>
              </a:rPr>
              <a:t>Tiupul Guamán Danny Alexander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998209" y="6867059"/>
            <a:ext cx="2632381" cy="54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true">
                <a:solidFill>
                  <a:srgbClr val="B8BB87"/>
                </a:solidFill>
                <a:latin typeface="Helios Bold"/>
                <a:ea typeface="Helios Bold"/>
                <a:cs typeface="Helios Bold"/>
                <a:sym typeface="Helios Bold"/>
              </a:rPr>
              <a:t>Grupo Nro.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160820" y="-12167794"/>
            <a:ext cx="5966360" cy="19855818"/>
            <a:chOff x="0" y="0"/>
            <a:chExt cx="1571387" cy="5229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387" cy="5229516"/>
            </a:xfrm>
            <a:custGeom>
              <a:avLst/>
              <a:gdLst/>
              <a:ahLst/>
              <a:cxnLst/>
              <a:rect r="r" b="b" t="t" l="l"/>
              <a:pathLst>
                <a:path h="5229516" w="1571387">
                  <a:moveTo>
                    <a:pt x="0" y="0"/>
                  </a:moveTo>
                  <a:lnTo>
                    <a:pt x="1571387" y="0"/>
                  </a:lnTo>
                  <a:lnTo>
                    <a:pt x="1571387" y="5229516"/>
                  </a:lnTo>
                  <a:lnTo>
                    <a:pt x="0" y="5229516"/>
                  </a:ln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71387" cy="5277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3627384" y="-2382359"/>
            <a:ext cx="8227978" cy="4140271"/>
            <a:chOff x="0" y="0"/>
            <a:chExt cx="80764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68250" y="8057418"/>
            <a:ext cx="4736499" cy="4736499"/>
          </a:xfrm>
          <a:custGeom>
            <a:avLst/>
            <a:gdLst/>
            <a:ahLst/>
            <a:cxnLst/>
            <a:rect r="r" b="b" t="t" l="l"/>
            <a:pathLst>
              <a:path h="4736499" w="4736499">
                <a:moveTo>
                  <a:pt x="0" y="0"/>
                </a:moveTo>
                <a:lnTo>
                  <a:pt x="4736500" y="0"/>
                </a:lnTo>
                <a:lnTo>
                  <a:pt x="4736500" y="4736500"/>
                </a:lnTo>
                <a:lnTo>
                  <a:pt x="0" y="473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4943" y="2689638"/>
            <a:ext cx="12978113" cy="146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3"/>
              </a:lnSpc>
              <a:spcBef>
                <a:spcPct val="0"/>
              </a:spcBef>
            </a:pPr>
            <a:r>
              <a:rPr lang="en-US" sz="8352">
                <a:solidFill>
                  <a:srgbClr val="71743C"/>
                </a:solidFill>
                <a:latin typeface="Helios"/>
                <a:ea typeface="Helios"/>
                <a:cs typeface="Helios"/>
                <a:sym typeface="Helios"/>
              </a:rPr>
              <a:t>¿Qué es un Árbol?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49991" y="5850995"/>
            <a:ext cx="5606126" cy="198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b="true" sz="2217" spc="130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Un árbol es una estructura de datos jerárquica compuesta por nodos interconectados mediante relaciones padre-hijo.</a:t>
            </a:r>
          </a:p>
          <a:p>
            <a:pPr algn="l">
              <a:lnSpc>
                <a:spcPts val="3104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7772" y="4877237"/>
            <a:ext cx="660687" cy="661890"/>
          </a:xfrm>
          <a:custGeom>
            <a:avLst/>
            <a:gdLst/>
            <a:ahLst/>
            <a:cxnLst/>
            <a:rect r="r" b="b" t="t" l="l"/>
            <a:pathLst>
              <a:path h="661890" w="660687">
                <a:moveTo>
                  <a:pt x="0" y="0"/>
                </a:moveTo>
                <a:lnTo>
                  <a:pt x="660686" y="0"/>
                </a:lnTo>
                <a:lnTo>
                  <a:pt x="660686" y="661890"/>
                </a:lnTo>
                <a:lnTo>
                  <a:pt x="0" y="66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936505" y="1188018"/>
            <a:ext cx="1139788" cy="11397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49991" y="4914000"/>
            <a:ext cx="6594009" cy="68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  <a:spcBef>
                <a:spcPct val="0"/>
              </a:spcBef>
            </a:pPr>
            <a:r>
              <a:rPr lang="en-US" b="true" sz="4017" spc="-132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ESTRUCTURA JERÁRQUICA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30379" y="5914393"/>
            <a:ext cx="5606126" cy="238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b="true" sz="2217" spc="130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Ideal para representar datos organizados por niveles, como procesos de decisión, jerarquías organizacionales o rutas de navegación.</a:t>
            </a:r>
          </a:p>
          <a:p>
            <a:pPr algn="l">
              <a:lnSpc>
                <a:spcPts val="3104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408160" y="4940635"/>
            <a:ext cx="660687" cy="661890"/>
          </a:xfrm>
          <a:custGeom>
            <a:avLst/>
            <a:gdLst/>
            <a:ahLst/>
            <a:cxnLst/>
            <a:rect r="r" b="b" t="t" l="l"/>
            <a:pathLst>
              <a:path h="661890" w="660687">
                <a:moveTo>
                  <a:pt x="0" y="0"/>
                </a:moveTo>
                <a:lnTo>
                  <a:pt x="660686" y="0"/>
                </a:lnTo>
                <a:lnTo>
                  <a:pt x="660686" y="661890"/>
                </a:lnTo>
                <a:lnTo>
                  <a:pt x="0" y="66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326021" y="4914000"/>
            <a:ext cx="6594009" cy="68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  <a:spcBef>
                <a:spcPct val="0"/>
              </a:spcBef>
            </a:pPr>
            <a:r>
              <a:rPr lang="en-US" b="true" sz="4017" spc="-132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ORGANIZACIÓN Y FLUJO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9504" y="2388469"/>
            <a:ext cx="12688992" cy="5510062"/>
          </a:xfrm>
          <a:custGeom>
            <a:avLst/>
            <a:gdLst/>
            <a:ahLst/>
            <a:cxnLst/>
            <a:rect r="r" b="b" t="t" l="l"/>
            <a:pathLst>
              <a:path h="5510062" w="12688992">
                <a:moveTo>
                  <a:pt x="0" y="0"/>
                </a:moveTo>
                <a:lnTo>
                  <a:pt x="12688992" y="0"/>
                </a:lnTo>
                <a:lnTo>
                  <a:pt x="12688992" y="5510062"/>
                </a:lnTo>
                <a:lnTo>
                  <a:pt x="0" y="55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6641" y="0"/>
            <a:ext cx="9515903" cy="10486669"/>
          </a:xfrm>
          <a:custGeom>
            <a:avLst/>
            <a:gdLst/>
            <a:ahLst/>
            <a:cxnLst/>
            <a:rect r="r" b="b" t="t" l="l"/>
            <a:pathLst>
              <a:path h="10486669" w="9515903">
                <a:moveTo>
                  <a:pt x="0" y="0"/>
                </a:moveTo>
                <a:lnTo>
                  <a:pt x="9515903" y="0"/>
                </a:lnTo>
                <a:lnTo>
                  <a:pt x="9515903" y="10486669"/>
                </a:lnTo>
                <a:lnTo>
                  <a:pt x="0" y="10486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88072" y="2222483"/>
            <a:ext cx="11511856" cy="5842035"/>
          </a:xfrm>
          <a:custGeom>
            <a:avLst/>
            <a:gdLst/>
            <a:ahLst/>
            <a:cxnLst/>
            <a:rect r="r" b="b" t="t" l="l"/>
            <a:pathLst>
              <a:path h="5842035" w="11511856">
                <a:moveTo>
                  <a:pt x="0" y="0"/>
                </a:moveTo>
                <a:lnTo>
                  <a:pt x="11511856" y="0"/>
                </a:lnTo>
                <a:lnTo>
                  <a:pt x="11511856" y="5842034"/>
                </a:lnTo>
                <a:lnTo>
                  <a:pt x="0" y="584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18667">
            <a:off x="1542482" y="4026268"/>
            <a:ext cx="1261485" cy="126148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252238" y="5795094"/>
            <a:ext cx="16230600" cy="0"/>
          </a:xfrm>
          <a:prstGeom prst="line">
            <a:avLst/>
          </a:prstGeom>
          <a:ln cap="flat" w="38100">
            <a:solidFill>
              <a:srgbClr val="4D4C4C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11984698" y="4004875"/>
            <a:ext cx="1304270" cy="1952945"/>
            <a:chOff x="0" y="0"/>
            <a:chExt cx="1739026" cy="2603926"/>
          </a:xfrm>
        </p:grpSpPr>
        <p:grpSp>
          <p:nvGrpSpPr>
            <p:cNvPr name="Group 7" id="7"/>
            <p:cNvGrpSpPr/>
            <p:nvPr/>
          </p:nvGrpSpPr>
          <p:grpSpPr>
            <a:xfrm rot="118667">
              <a:off x="28523" y="28523"/>
              <a:ext cx="1681980" cy="168198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4D4C4C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6926" y="2169991"/>
              <a:ext cx="433935" cy="433935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072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>
              <a:off x="840489" y="1710002"/>
              <a:ext cx="3637" cy="647657"/>
            </a:xfrm>
            <a:prstGeom prst="line">
              <a:avLst/>
            </a:prstGeom>
            <a:ln cap="flat" w="50800">
              <a:solidFill>
                <a:srgbClr val="4D4C4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79718" y="4004875"/>
            <a:ext cx="1304270" cy="1952945"/>
            <a:chOff x="0" y="0"/>
            <a:chExt cx="1739026" cy="2603926"/>
          </a:xfrm>
        </p:grpSpPr>
        <p:grpSp>
          <p:nvGrpSpPr>
            <p:cNvPr name="Group 15" id="15"/>
            <p:cNvGrpSpPr/>
            <p:nvPr/>
          </p:nvGrpSpPr>
          <p:grpSpPr>
            <a:xfrm rot="118667">
              <a:off x="28523" y="28523"/>
              <a:ext cx="1681980" cy="168198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4D4C4C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6926" y="2169991"/>
              <a:ext cx="433935" cy="43393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072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  <p:sp>
          <p:nvSpPr>
            <p:cNvPr name="AutoShape 21" id="21"/>
            <p:cNvSpPr/>
            <p:nvPr/>
          </p:nvSpPr>
          <p:spPr>
            <a:xfrm>
              <a:off x="840489" y="1710002"/>
              <a:ext cx="3637" cy="647657"/>
            </a:xfrm>
            <a:prstGeom prst="line">
              <a:avLst/>
            </a:prstGeom>
            <a:ln cap="flat" w="50800">
              <a:solidFill>
                <a:srgbClr val="4D4C4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2" id="22"/>
          <p:cNvGrpSpPr/>
          <p:nvPr/>
        </p:nvGrpSpPr>
        <p:grpSpPr>
          <a:xfrm rot="118667">
            <a:off x="5015701" y="4047660"/>
            <a:ext cx="1261485" cy="126148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2151456" y="5287377"/>
            <a:ext cx="2728" cy="485743"/>
          </a:xfrm>
          <a:prstGeom prst="line">
            <a:avLst/>
          </a:prstGeom>
          <a:ln cap="flat" w="38100">
            <a:solidFill>
              <a:srgbClr val="4D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624676" y="5308769"/>
            <a:ext cx="2728" cy="485743"/>
          </a:xfrm>
          <a:prstGeom prst="line">
            <a:avLst/>
          </a:prstGeom>
          <a:ln cap="flat" w="38100">
            <a:solidFill>
              <a:srgbClr val="4D4C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976284" y="5632369"/>
            <a:ext cx="325451" cy="32545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72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49503" y="5653761"/>
            <a:ext cx="325451" cy="32545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72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3271034" y="-3035180"/>
            <a:ext cx="9568435" cy="4140271"/>
            <a:chOff x="0" y="0"/>
            <a:chExt cx="939217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9217" cy="406400"/>
            </a:xfrm>
            <a:custGeom>
              <a:avLst/>
              <a:gdLst/>
              <a:ahLst/>
              <a:cxnLst/>
              <a:rect r="r" b="b" t="t" l="l"/>
              <a:pathLst>
                <a:path h="406400" w="939217">
                  <a:moveTo>
                    <a:pt x="736017" y="0"/>
                  </a:moveTo>
                  <a:cubicBezTo>
                    <a:pt x="848241" y="0"/>
                    <a:pt x="939217" y="90976"/>
                    <a:pt x="939217" y="203200"/>
                  </a:cubicBezTo>
                  <a:cubicBezTo>
                    <a:pt x="939217" y="315424"/>
                    <a:pt x="848241" y="406400"/>
                    <a:pt x="7360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3921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49361" y="548794"/>
            <a:ext cx="959812" cy="95981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00000">
            <a:off x="6186162" y="2328854"/>
            <a:ext cx="6818207" cy="20947169"/>
            <a:chOff x="0" y="0"/>
            <a:chExt cx="1795742" cy="55169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491865" y="4004875"/>
            <a:ext cx="1304270" cy="1952945"/>
            <a:chOff x="0" y="0"/>
            <a:chExt cx="1739026" cy="2603926"/>
          </a:xfrm>
        </p:grpSpPr>
        <p:grpSp>
          <p:nvGrpSpPr>
            <p:cNvPr name="Group 44" id="44"/>
            <p:cNvGrpSpPr/>
            <p:nvPr/>
          </p:nvGrpSpPr>
          <p:grpSpPr>
            <a:xfrm rot="118667">
              <a:off x="28523" y="28523"/>
              <a:ext cx="1681980" cy="1681980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4D4C4C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606926" y="2169991"/>
              <a:ext cx="433935" cy="433935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072B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  <p:sp>
          <p:nvSpPr>
            <p:cNvPr name="AutoShape 50" id="50"/>
            <p:cNvSpPr/>
            <p:nvPr/>
          </p:nvSpPr>
          <p:spPr>
            <a:xfrm>
              <a:off x="840489" y="1710002"/>
              <a:ext cx="3637" cy="647657"/>
            </a:xfrm>
            <a:prstGeom prst="line">
              <a:avLst/>
            </a:prstGeom>
            <a:ln cap="flat" w="50800">
              <a:solidFill>
                <a:srgbClr val="4D4C4C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1840754" y="4381131"/>
            <a:ext cx="664940" cy="551759"/>
          </a:xfrm>
          <a:custGeom>
            <a:avLst/>
            <a:gdLst/>
            <a:ahLst/>
            <a:cxnLst/>
            <a:rect r="r" b="b" t="t" l="l"/>
            <a:pathLst>
              <a:path h="551759" w="664940">
                <a:moveTo>
                  <a:pt x="0" y="0"/>
                </a:moveTo>
                <a:lnTo>
                  <a:pt x="664940" y="0"/>
                </a:lnTo>
                <a:lnTo>
                  <a:pt x="664940" y="551759"/>
                </a:lnTo>
                <a:lnTo>
                  <a:pt x="0" y="551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371071" y="4383673"/>
            <a:ext cx="575083" cy="589460"/>
          </a:xfrm>
          <a:custGeom>
            <a:avLst/>
            <a:gdLst/>
            <a:ahLst/>
            <a:cxnLst/>
            <a:rect r="r" b="b" t="t" l="l"/>
            <a:pathLst>
              <a:path h="589460" w="575083">
                <a:moveTo>
                  <a:pt x="0" y="0"/>
                </a:moveTo>
                <a:lnTo>
                  <a:pt x="575083" y="0"/>
                </a:lnTo>
                <a:lnTo>
                  <a:pt x="575083" y="589460"/>
                </a:lnTo>
                <a:lnTo>
                  <a:pt x="0" y="589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924416" y="4383673"/>
            <a:ext cx="439169" cy="469456"/>
          </a:xfrm>
          <a:custGeom>
            <a:avLst/>
            <a:gdLst/>
            <a:ahLst/>
            <a:cxnLst/>
            <a:rect r="r" b="b" t="t" l="l"/>
            <a:pathLst>
              <a:path h="469456" w="439169">
                <a:moveTo>
                  <a:pt x="0" y="0"/>
                </a:moveTo>
                <a:lnTo>
                  <a:pt x="439168" y="0"/>
                </a:lnTo>
                <a:lnTo>
                  <a:pt x="439168" y="469456"/>
                </a:lnTo>
                <a:lnTo>
                  <a:pt x="0" y="469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2339310" y="4404650"/>
            <a:ext cx="613870" cy="547506"/>
          </a:xfrm>
          <a:custGeom>
            <a:avLst/>
            <a:gdLst/>
            <a:ahLst/>
            <a:cxnLst/>
            <a:rect r="r" b="b" t="t" l="l"/>
            <a:pathLst>
              <a:path h="547506" w="613870">
                <a:moveTo>
                  <a:pt x="0" y="0"/>
                </a:moveTo>
                <a:lnTo>
                  <a:pt x="613870" y="0"/>
                </a:lnTo>
                <a:lnTo>
                  <a:pt x="613870" y="547506"/>
                </a:lnTo>
                <a:lnTo>
                  <a:pt x="0" y="5475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5833481" y="4383673"/>
            <a:ext cx="596743" cy="551987"/>
          </a:xfrm>
          <a:custGeom>
            <a:avLst/>
            <a:gdLst/>
            <a:ahLst/>
            <a:cxnLst/>
            <a:rect r="r" b="b" t="t" l="l"/>
            <a:pathLst>
              <a:path h="551987" w="596743">
                <a:moveTo>
                  <a:pt x="0" y="0"/>
                </a:moveTo>
                <a:lnTo>
                  <a:pt x="596743" y="0"/>
                </a:lnTo>
                <a:lnTo>
                  <a:pt x="596743" y="551987"/>
                </a:lnTo>
                <a:lnTo>
                  <a:pt x="0" y="551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2534539" y="1903660"/>
            <a:ext cx="13177983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67"/>
              </a:lnSpc>
              <a:spcBef>
                <a:spcPct val="0"/>
              </a:spcBef>
            </a:pPr>
            <a:r>
              <a:rPr lang="en-US" sz="6056" spc="181">
                <a:solidFill>
                  <a:srgbClr val="71743C"/>
                </a:solidFill>
                <a:latin typeface="Helios"/>
                <a:ea typeface="Helios"/>
                <a:cs typeface="Helios"/>
                <a:sym typeface="Helios"/>
              </a:rPr>
              <a:t>Componentes Clave de un Árbol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05162" y="6768499"/>
            <a:ext cx="2654489" cy="74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600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El nodo principal, punto de partida del árbol.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4304025" y="6768499"/>
            <a:ext cx="2654489" cy="99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600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Nodos descendientes, conectados directamente a un padre.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111587" y="6241642"/>
            <a:ext cx="2085192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  <a:spcBef>
                <a:spcPct val="0"/>
              </a:spcBef>
            </a:pPr>
            <a:r>
              <a:rPr lang="en-US" b="true" sz="2499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RAÍZ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334373" y="6241642"/>
            <a:ext cx="2624141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  <a:spcBef>
                <a:spcPct val="0"/>
              </a:spcBef>
            </a:pPr>
            <a:r>
              <a:rPr lang="en-US" b="true" sz="2499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HIJOS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796285" y="6768499"/>
            <a:ext cx="2654489" cy="74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600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Nodos terminales que no tienen hijos.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7826633" y="6241642"/>
            <a:ext cx="2624141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  <a:spcBef>
                <a:spcPct val="0"/>
              </a:spcBef>
            </a:pPr>
            <a:r>
              <a:rPr lang="en-US" b="true" sz="2499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HOJAS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288546" y="6768499"/>
            <a:ext cx="2654489" cy="99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600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Indican la profundidad de los nodos desde la raíz.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11550589" y="6241642"/>
            <a:ext cx="2160750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  <a:spcBef>
                <a:spcPct val="0"/>
              </a:spcBef>
            </a:pPr>
            <a:r>
              <a:rPr lang="en-US" b="true" sz="2499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NIVELES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780806" y="6768499"/>
            <a:ext cx="2654489" cy="99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600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Las conexiones que unen los nodos, estableciendo las relaciones.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14967291" y="6241642"/>
            <a:ext cx="2311866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  <a:spcBef>
                <a:spcPct val="0"/>
              </a:spcBef>
            </a:pPr>
            <a:r>
              <a:rPr lang="en-US" b="true" sz="2499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ARISTAS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3849" y="2347560"/>
            <a:ext cx="8502891" cy="5047741"/>
          </a:xfrm>
          <a:custGeom>
            <a:avLst/>
            <a:gdLst/>
            <a:ahLst/>
            <a:cxnLst/>
            <a:rect r="r" b="b" t="t" l="l"/>
            <a:pathLst>
              <a:path h="5047741" w="8502891">
                <a:moveTo>
                  <a:pt x="0" y="0"/>
                </a:moveTo>
                <a:lnTo>
                  <a:pt x="8502891" y="0"/>
                </a:lnTo>
                <a:lnTo>
                  <a:pt x="8502891" y="5047742"/>
                </a:lnTo>
                <a:lnTo>
                  <a:pt x="0" y="5047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8510" b="-550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71034" y="-3035180"/>
            <a:ext cx="9568435" cy="4140271"/>
            <a:chOff x="0" y="0"/>
            <a:chExt cx="939217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9217" cy="406400"/>
            </a:xfrm>
            <a:custGeom>
              <a:avLst/>
              <a:gdLst/>
              <a:ahLst/>
              <a:cxnLst/>
              <a:rect r="r" b="b" t="t" l="l"/>
              <a:pathLst>
                <a:path h="406400" w="939217">
                  <a:moveTo>
                    <a:pt x="736017" y="0"/>
                  </a:moveTo>
                  <a:cubicBezTo>
                    <a:pt x="848241" y="0"/>
                    <a:pt x="939217" y="90976"/>
                    <a:pt x="939217" y="203200"/>
                  </a:cubicBezTo>
                  <a:cubicBezTo>
                    <a:pt x="939217" y="315424"/>
                    <a:pt x="848241" y="406400"/>
                    <a:pt x="7360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3921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49361" y="548794"/>
            <a:ext cx="959812" cy="95981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-3185427" y="8404843"/>
            <a:ext cx="7715406" cy="3535431"/>
            <a:chOff x="0" y="0"/>
            <a:chExt cx="886891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6891" cy="406400"/>
            </a:xfrm>
            <a:custGeom>
              <a:avLst/>
              <a:gdLst/>
              <a:ahLst/>
              <a:cxnLst/>
              <a:rect r="r" b="b" t="t" l="l"/>
              <a:pathLst>
                <a:path h="406400" w="886891">
                  <a:moveTo>
                    <a:pt x="683691" y="0"/>
                  </a:moveTo>
                  <a:cubicBezTo>
                    <a:pt x="795915" y="0"/>
                    <a:pt x="886891" y="90976"/>
                    <a:pt x="886891" y="203200"/>
                  </a:cubicBezTo>
                  <a:cubicBezTo>
                    <a:pt x="886891" y="315424"/>
                    <a:pt x="795915" y="406400"/>
                    <a:pt x="6836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8689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7849" y="6229506"/>
            <a:ext cx="1212142" cy="1165796"/>
            <a:chOff x="0" y="0"/>
            <a:chExt cx="1616189" cy="155439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554394" cy="155439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DF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07634" y="45839"/>
              <a:ext cx="1508555" cy="1508555"/>
            </a:xfrm>
            <a:custGeom>
              <a:avLst/>
              <a:gdLst/>
              <a:ahLst/>
              <a:cxnLst/>
              <a:rect r="r" b="b" t="t" l="l"/>
              <a:pathLst>
                <a:path h="1508555" w="1508555">
                  <a:moveTo>
                    <a:pt x="0" y="0"/>
                  </a:moveTo>
                  <a:lnTo>
                    <a:pt x="1508555" y="0"/>
                  </a:lnTo>
                  <a:lnTo>
                    <a:pt x="1508555" y="1508555"/>
                  </a:lnTo>
                  <a:lnTo>
                    <a:pt x="0" y="1508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803697" y="2466408"/>
            <a:ext cx="5810864" cy="5354183"/>
          </a:xfrm>
          <a:custGeom>
            <a:avLst/>
            <a:gdLst/>
            <a:ahLst/>
            <a:cxnLst/>
            <a:rect r="r" b="b" t="t" l="l"/>
            <a:pathLst>
              <a:path h="5354183" w="5810864">
                <a:moveTo>
                  <a:pt x="0" y="0"/>
                </a:moveTo>
                <a:lnTo>
                  <a:pt x="5810864" y="0"/>
                </a:lnTo>
                <a:lnTo>
                  <a:pt x="5810864" y="5354184"/>
                </a:lnTo>
                <a:lnTo>
                  <a:pt x="0" y="5354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4457" y="1461893"/>
            <a:ext cx="16659085" cy="6351276"/>
          </a:xfrm>
          <a:custGeom>
            <a:avLst/>
            <a:gdLst/>
            <a:ahLst/>
            <a:cxnLst/>
            <a:rect r="r" b="b" t="t" l="l"/>
            <a:pathLst>
              <a:path h="6351276" w="16659085">
                <a:moveTo>
                  <a:pt x="0" y="0"/>
                </a:moveTo>
                <a:lnTo>
                  <a:pt x="16659086" y="0"/>
                </a:lnTo>
                <a:lnTo>
                  <a:pt x="16659086" y="6351277"/>
                </a:lnTo>
                <a:lnTo>
                  <a:pt x="0" y="6351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3184" y="1975067"/>
            <a:ext cx="15205684" cy="7526814"/>
          </a:xfrm>
          <a:custGeom>
            <a:avLst/>
            <a:gdLst/>
            <a:ahLst/>
            <a:cxnLst/>
            <a:rect r="r" b="b" t="t" l="l"/>
            <a:pathLst>
              <a:path h="7526814" w="15205684">
                <a:moveTo>
                  <a:pt x="0" y="0"/>
                </a:moveTo>
                <a:lnTo>
                  <a:pt x="15205684" y="0"/>
                </a:lnTo>
                <a:lnTo>
                  <a:pt x="15205684" y="7526814"/>
                </a:lnTo>
                <a:lnTo>
                  <a:pt x="0" y="752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71034" y="-3035180"/>
            <a:ext cx="9568435" cy="4140271"/>
            <a:chOff x="0" y="0"/>
            <a:chExt cx="939217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9217" cy="406400"/>
            </a:xfrm>
            <a:custGeom>
              <a:avLst/>
              <a:gdLst/>
              <a:ahLst/>
              <a:cxnLst/>
              <a:rect r="r" b="b" t="t" l="l"/>
              <a:pathLst>
                <a:path h="406400" w="939217">
                  <a:moveTo>
                    <a:pt x="736017" y="0"/>
                  </a:moveTo>
                  <a:cubicBezTo>
                    <a:pt x="848241" y="0"/>
                    <a:pt x="939217" y="90976"/>
                    <a:pt x="939217" y="203200"/>
                  </a:cubicBezTo>
                  <a:cubicBezTo>
                    <a:pt x="939217" y="315424"/>
                    <a:pt x="848241" y="406400"/>
                    <a:pt x="7360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3921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49361" y="548794"/>
            <a:ext cx="959812" cy="95981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8337" y="1487935"/>
            <a:ext cx="16391326" cy="6536041"/>
          </a:xfrm>
          <a:custGeom>
            <a:avLst/>
            <a:gdLst/>
            <a:ahLst/>
            <a:cxnLst/>
            <a:rect r="r" b="b" t="t" l="l"/>
            <a:pathLst>
              <a:path h="6536041" w="16391326">
                <a:moveTo>
                  <a:pt x="0" y="0"/>
                </a:moveTo>
                <a:lnTo>
                  <a:pt x="16391326" y="0"/>
                </a:lnTo>
                <a:lnTo>
                  <a:pt x="16391326" y="6536041"/>
                </a:lnTo>
                <a:lnTo>
                  <a:pt x="0" y="6536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257" y="2019806"/>
            <a:ext cx="16741485" cy="5189860"/>
          </a:xfrm>
          <a:custGeom>
            <a:avLst/>
            <a:gdLst/>
            <a:ahLst/>
            <a:cxnLst/>
            <a:rect r="r" b="b" t="t" l="l"/>
            <a:pathLst>
              <a:path h="5189860" w="16741485">
                <a:moveTo>
                  <a:pt x="0" y="0"/>
                </a:moveTo>
                <a:lnTo>
                  <a:pt x="16741486" y="0"/>
                </a:lnTo>
                <a:lnTo>
                  <a:pt x="16741486" y="5189861"/>
                </a:lnTo>
                <a:lnTo>
                  <a:pt x="0" y="518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71034" y="-3035180"/>
            <a:ext cx="9568435" cy="4140271"/>
            <a:chOff x="0" y="0"/>
            <a:chExt cx="939217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9217" cy="406400"/>
            </a:xfrm>
            <a:custGeom>
              <a:avLst/>
              <a:gdLst/>
              <a:ahLst/>
              <a:cxnLst/>
              <a:rect r="r" b="b" t="t" l="l"/>
              <a:pathLst>
                <a:path h="406400" w="939217">
                  <a:moveTo>
                    <a:pt x="736017" y="0"/>
                  </a:moveTo>
                  <a:cubicBezTo>
                    <a:pt x="848241" y="0"/>
                    <a:pt x="939217" y="90976"/>
                    <a:pt x="939217" y="203200"/>
                  </a:cubicBezTo>
                  <a:cubicBezTo>
                    <a:pt x="939217" y="315424"/>
                    <a:pt x="848241" y="406400"/>
                    <a:pt x="7360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3921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49361" y="548794"/>
            <a:ext cx="959812" cy="95981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5518" y="-3515086"/>
            <a:ext cx="9568435" cy="4140271"/>
            <a:chOff x="0" y="0"/>
            <a:chExt cx="93921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9217" cy="406400"/>
            </a:xfrm>
            <a:custGeom>
              <a:avLst/>
              <a:gdLst/>
              <a:ahLst/>
              <a:cxnLst/>
              <a:rect r="r" b="b" t="t" l="l"/>
              <a:pathLst>
                <a:path h="406400" w="939217">
                  <a:moveTo>
                    <a:pt x="736017" y="0"/>
                  </a:moveTo>
                  <a:cubicBezTo>
                    <a:pt x="848241" y="0"/>
                    <a:pt x="939217" y="90976"/>
                    <a:pt x="939217" y="203200"/>
                  </a:cubicBezTo>
                  <a:cubicBezTo>
                    <a:pt x="939217" y="315424"/>
                    <a:pt x="848241" y="406400"/>
                    <a:pt x="7360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3921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4878" y="68888"/>
            <a:ext cx="959812" cy="95981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979176" y="2767779"/>
          <a:ext cx="14329647" cy="5697809"/>
        </p:xfrm>
        <a:graphic>
          <a:graphicData uri="http://schemas.openxmlformats.org/drawingml/2006/table">
            <a:tbl>
              <a:tblPr/>
              <a:tblGrid>
                <a:gridCol w="8025502"/>
                <a:gridCol w="6304145"/>
              </a:tblGrid>
              <a:tr h="13719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Ventajas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Desventajas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67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Búsqueda, inserción y eliminación eficientes (arboles balanceados)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Sobrecarga de memoria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Dinamicidad de tamaño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Rendimiento degradado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220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Facilidad para operaciones complejas y/o recursivas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 siempre es la mejor opción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2413992" y="827477"/>
            <a:ext cx="13460017" cy="15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Ventajas y Desventajas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46169" y="3794507"/>
            <a:ext cx="700542" cy="791364"/>
            <a:chOff x="0" y="0"/>
            <a:chExt cx="71951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517" cy="812800"/>
            </a:xfrm>
            <a:custGeom>
              <a:avLst/>
              <a:gdLst/>
              <a:ahLst/>
              <a:cxnLst/>
              <a:rect r="r" b="b" t="t" l="l"/>
              <a:pathLst>
                <a:path h="812800" w="719517">
                  <a:moveTo>
                    <a:pt x="359759" y="0"/>
                  </a:moveTo>
                  <a:cubicBezTo>
                    <a:pt x="161069" y="0"/>
                    <a:pt x="0" y="181951"/>
                    <a:pt x="0" y="406400"/>
                  </a:cubicBezTo>
                  <a:cubicBezTo>
                    <a:pt x="0" y="630849"/>
                    <a:pt x="161069" y="812800"/>
                    <a:pt x="359759" y="812800"/>
                  </a:cubicBezTo>
                  <a:cubicBezTo>
                    <a:pt x="558448" y="812800"/>
                    <a:pt x="719517" y="630849"/>
                    <a:pt x="719517" y="406400"/>
                  </a:cubicBezTo>
                  <a:cubicBezTo>
                    <a:pt x="719517" y="181951"/>
                    <a:pt x="558448" y="0"/>
                    <a:pt x="359759" y="0"/>
                  </a:cubicBezTo>
                  <a:close/>
                </a:path>
              </a:pathLst>
            </a:custGeom>
            <a:solidFill>
              <a:srgbClr val="7174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7455" y="38100"/>
              <a:ext cx="584608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44255" y="4890671"/>
            <a:ext cx="700542" cy="791364"/>
            <a:chOff x="0" y="0"/>
            <a:chExt cx="71951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9517" cy="812800"/>
            </a:xfrm>
            <a:custGeom>
              <a:avLst/>
              <a:gdLst/>
              <a:ahLst/>
              <a:cxnLst/>
              <a:rect r="r" b="b" t="t" l="l"/>
              <a:pathLst>
                <a:path h="812800" w="719517">
                  <a:moveTo>
                    <a:pt x="359759" y="0"/>
                  </a:moveTo>
                  <a:cubicBezTo>
                    <a:pt x="161069" y="0"/>
                    <a:pt x="0" y="181951"/>
                    <a:pt x="0" y="406400"/>
                  </a:cubicBezTo>
                  <a:cubicBezTo>
                    <a:pt x="0" y="630849"/>
                    <a:pt x="161069" y="812800"/>
                    <a:pt x="359759" y="812800"/>
                  </a:cubicBezTo>
                  <a:cubicBezTo>
                    <a:pt x="558448" y="812800"/>
                    <a:pt x="719517" y="630849"/>
                    <a:pt x="719517" y="406400"/>
                  </a:cubicBezTo>
                  <a:cubicBezTo>
                    <a:pt x="719517" y="181951"/>
                    <a:pt x="558448" y="0"/>
                    <a:pt x="359759" y="0"/>
                  </a:cubicBezTo>
                  <a:close/>
                </a:path>
              </a:pathLst>
            </a:custGeom>
            <a:solidFill>
              <a:srgbClr val="71743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67455" y="38100"/>
              <a:ext cx="584608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-2140388" y="566237"/>
            <a:ext cx="11836639" cy="9573198"/>
            <a:chOff x="0" y="0"/>
            <a:chExt cx="3117469" cy="2521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7469" cy="2521336"/>
            </a:xfrm>
            <a:custGeom>
              <a:avLst/>
              <a:gdLst/>
              <a:ahLst/>
              <a:cxnLst/>
              <a:rect r="r" b="b" t="t" l="l"/>
              <a:pathLst>
                <a:path h="2521336" w="3117469">
                  <a:moveTo>
                    <a:pt x="0" y="0"/>
                  </a:moveTo>
                  <a:lnTo>
                    <a:pt x="3117469" y="0"/>
                  </a:lnTo>
                  <a:lnTo>
                    <a:pt x="3117469" y="2521336"/>
                  </a:lnTo>
                  <a:lnTo>
                    <a:pt x="0" y="2521336"/>
                  </a:ln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17469" cy="2568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8411" y="4036081"/>
            <a:ext cx="6990458" cy="3819970"/>
            <a:chOff x="0" y="0"/>
            <a:chExt cx="2332655" cy="12746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2655" cy="1274691"/>
            </a:xfrm>
            <a:custGeom>
              <a:avLst/>
              <a:gdLst/>
              <a:ahLst/>
              <a:cxnLst/>
              <a:rect r="r" b="b" t="t" l="l"/>
              <a:pathLst>
                <a:path h="1274691" w="2332655">
                  <a:moveTo>
                    <a:pt x="0" y="0"/>
                  </a:moveTo>
                  <a:lnTo>
                    <a:pt x="2332655" y="0"/>
                  </a:lnTo>
                  <a:lnTo>
                    <a:pt x="2332655" y="1274691"/>
                  </a:lnTo>
                  <a:lnTo>
                    <a:pt x="0" y="1274691"/>
                  </a:lnTo>
                  <a:close/>
                </a:path>
              </a:pathLst>
            </a:custGeom>
            <a:blipFill>
              <a:blip r:embed="rId2"/>
              <a:stretch>
                <a:fillRect l="0" t="-1468" r="0" b="-1468"/>
              </a:stretch>
            </a:blipFill>
            <a:ln w="85725" cap="sq">
              <a:solidFill>
                <a:srgbClr val="FFFDF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828114" y="-3111571"/>
            <a:ext cx="9568435" cy="4140271"/>
            <a:chOff x="0" y="0"/>
            <a:chExt cx="939217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9217" cy="406400"/>
            </a:xfrm>
            <a:custGeom>
              <a:avLst/>
              <a:gdLst/>
              <a:ahLst/>
              <a:cxnLst/>
              <a:rect r="r" b="b" t="t" l="l"/>
              <a:pathLst>
                <a:path h="406400" w="939217">
                  <a:moveTo>
                    <a:pt x="736017" y="0"/>
                  </a:moveTo>
                  <a:cubicBezTo>
                    <a:pt x="848241" y="0"/>
                    <a:pt x="939217" y="90976"/>
                    <a:pt x="939217" y="203200"/>
                  </a:cubicBezTo>
                  <a:cubicBezTo>
                    <a:pt x="939217" y="315424"/>
                    <a:pt x="848241" y="406400"/>
                    <a:pt x="7360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3921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321475" y="-129854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6" y="0"/>
                </a:lnTo>
                <a:lnTo>
                  <a:pt x="4009936" y="4009936"/>
                </a:lnTo>
                <a:lnTo>
                  <a:pt x="0" y="4009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575832" y="625185"/>
            <a:ext cx="959812" cy="95981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02795" y="2009439"/>
            <a:ext cx="7961690" cy="139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8"/>
              </a:lnSpc>
            </a:pPr>
            <a:r>
              <a:rPr lang="en-US" b="true" sz="4569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CASO PRACTICO: </a:t>
            </a:r>
          </a:p>
          <a:p>
            <a:pPr algn="ctr">
              <a:lnSpc>
                <a:spcPts val="5528"/>
              </a:lnSpc>
            </a:pPr>
            <a:r>
              <a:rPr lang="en-US" b="true" sz="4569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ARBOL DE DECISIONES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95619" y="3700840"/>
            <a:ext cx="6468406" cy="7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3799">
                <a:solidFill>
                  <a:srgbClr val="71743C"/>
                </a:solidFill>
                <a:latin typeface="Helios"/>
                <a:ea typeface="Helios"/>
                <a:cs typeface="Helios"/>
                <a:sym typeface="Helios"/>
              </a:rPr>
              <a:t>Tipo de Producto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24472" y="4438509"/>
            <a:ext cx="6210451" cy="60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¿Laptop o desktop?</a:t>
            </a:r>
          </a:p>
          <a:p>
            <a:pPr algn="l">
              <a:lnSpc>
                <a:spcPts val="245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969754" y="3870732"/>
            <a:ext cx="836508" cy="62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9"/>
              </a:lnSpc>
              <a:spcBef>
                <a:spcPct val="0"/>
              </a:spcBef>
            </a:pPr>
            <a:r>
              <a:rPr lang="en-US" b="true" sz="3720">
                <a:solidFill>
                  <a:srgbClr val="FFFDF7"/>
                </a:solidFill>
                <a:latin typeface="TS Deniz Bold"/>
                <a:ea typeface="TS Deniz Bold"/>
                <a:cs typeface="TS Deniz Bold"/>
                <a:sym typeface="TS Deniz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06772" y="4846679"/>
            <a:ext cx="6754830" cy="74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3899">
                <a:solidFill>
                  <a:srgbClr val="71743C"/>
                </a:solidFill>
                <a:latin typeface="Helios"/>
                <a:ea typeface="Helios"/>
                <a:cs typeface="Helios"/>
                <a:sym typeface="Helios"/>
              </a:rPr>
              <a:t>Presupuesto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11843" y="5563272"/>
            <a:ext cx="6234234" cy="60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¿Alto o bajo?</a:t>
            </a:r>
          </a:p>
          <a:p>
            <a:pPr algn="l">
              <a:lnSpc>
                <a:spcPts val="245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963206" y="4977109"/>
            <a:ext cx="836508" cy="62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9"/>
              </a:lnSpc>
              <a:spcBef>
                <a:spcPct val="0"/>
              </a:spcBef>
            </a:pPr>
            <a:r>
              <a:rPr lang="en-US" b="true" sz="3720">
                <a:solidFill>
                  <a:srgbClr val="FFFDF7"/>
                </a:solidFill>
                <a:latin typeface="TS Deniz Bold"/>
                <a:ea typeface="TS Deniz Bold"/>
                <a:cs typeface="TS Deniz Bold"/>
                <a:sym typeface="TS Deniz Bold"/>
              </a:rPr>
              <a:t>02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234187" y="2504438"/>
            <a:ext cx="660687" cy="661890"/>
          </a:xfrm>
          <a:custGeom>
            <a:avLst/>
            <a:gdLst/>
            <a:ahLst/>
            <a:cxnLst/>
            <a:rect r="r" b="b" t="t" l="l"/>
            <a:pathLst>
              <a:path h="661890" w="660687">
                <a:moveTo>
                  <a:pt x="0" y="0"/>
                </a:moveTo>
                <a:lnTo>
                  <a:pt x="660687" y="0"/>
                </a:lnTo>
                <a:lnTo>
                  <a:pt x="660687" y="661890"/>
                </a:lnTo>
                <a:lnTo>
                  <a:pt x="0" y="661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894874" y="2133435"/>
            <a:ext cx="7961690" cy="139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8"/>
              </a:lnSpc>
            </a:pPr>
            <a:r>
              <a:rPr lang="en-US" b="true" sz="4569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RECOMENDACION DE PRODUCTOS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033103" y="6166386"/>
            <a:ext cx="700542" cy="791364"/>
            <a:chOff x="0" y="0"/>
            <a:chExt cx="719517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9517" cy="812800"/>
            </a:xfrm>
            <a:custGeom>
              <a:avLst/>
              <a:gdLst/>
              <a:ahLst/>
              <a:cxnLst/>
              <a:rect r="r" b="b" t="t" l="l"/>
              <a:pathLst>
                <a:path h="812800" w="719517">
                  <a:moveTo>
                    <a:pt x="359759" y="0"/>
                  </a:moveTo>
                  <a:cubicBezTo>
                    <a:pt x="161069" y="0"/>
                    <a:pt x="0" y="181951"/>
                    <a:pt x="0" y="406400"/>
                  </a:cubicBezTo>
                  <a:cubicBezTo>
                    <a:pt x="0" y="630849"/>
                    <a:pt x="161069" y="812800"/>
                    <a:pt x="359759" y="812800"/>
                  </a:cubicBezTo>
                  <a:cubicBezTo>
                    <a:pt x="558448" y="812800"/>
                    <a:pt x="719517" y="630849"/>
                    <a:pt x="719517" y="406400"/>
                  </a:cubicBezTo>
                  <a:cubicBezTo>
                    <a:pt x="719517" y="181951"/>
                    <a:pt x="558448" y="0"/>
                    <a:pt x="359759" y="0"/>
                  </a:cubicBezTo>
                  <a:close/>
                </a:path>
              </a:pathLst>
            </a:custGeom>
            <a:solidFill>
              <a:srgbClr val="71743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67455" y="38100"/>
              <a:ext cx="584608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906772" y="6122394"/>
            <a:ext cx="6754830" cy="73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3899">
                <a:solidFill>
                  <a:srgbClr val="71743C"/>
                </a:solidFill>
                <a:latin typeface="Helios"/>
                <a:ea typeface="Helios"/>
                <a:cs typeface="Helios"/>
                <a:sym typeface="Helios"/>
              </a:rPr>
              <a:t>Uso Principal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00690" y="6838987"/>
            <a:ext cx="6234234" cy="60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¿Gamer o trabajo?</a:t>
            </a:r>
          </a:p>
          <a:p>
            <a:pPr algn="l">
              <a:lnSpc>
                <a:spcPts val="245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952053" y="6252824"/>
            <a:ext cx="836508" cy="62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9"/>
              </a:lnSpc>
              <a:spcBef>
                <a:spcPct val="0"/>
              </a:spcBef>
            </a:pPr>
            <a:r>
              <a:rPr lang="en-US" b="true" sz="3720">
                <a:solidFill>
                  <a:srgbClr val="FFFDF7"/>
                </a:solidFill>
                <a:latin typeface="TS Deniz Bold"/>
                <a:ea typeface="TS Deniz Bold"/>
                <a:cs typeface="TS Deniz Bold"/>
                <a:sym typeface="TS Deniz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14084" y="7794526"/>
            <a:ext cx="7042480" cy="90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Cada decisión guía hacia una recomendación final. Un proceso simple y rápido, 100% basado en la lógica de un árbol de decisiones.</a:t>
            </a:r>
          </a:p>
          <a:p>
            <a:pPr algn="l">
              <a:lnSpc>
                <a:spcPts val="2457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71034" y="-3035180"/>
            <a:ext cx="9568435" cy="4140271"/>
            <a:chOff x="0" y="0"/>
            <a:chExt cx="93921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9217" cy="406400"/>
            </a:xfrm>
            <a:custGeom>
              <a:avLst/>
              <a:gdLst/>
              <a:ahLst/>
              <a:cxnLst/>
              <a:rect r="r" b="b" t="t" l="l"/>
              <a:pathLst>
                <a:path h="406400" w="939217">
                  <a:moveTo>
                    <a:pt x="736017" y="0"/>
                  </a:moveTo>
                  <a:cubicBezTo>
                    <a:pt x="848241" y="0"/>
                    <a:pt x="939217" y="90976"/>
                    <a:pt x="939217" y="203200"/>
                  </a:cubicBezTo>
                  <a:cubicBezTo>
                    <a:pt x="939217" y="315424"/>
                    <a:pt x="848241" y="406400"/>
                    <a:pt x="7360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3921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58915" y="-2034868"/>
            <a:ext cx="4009935" cy="4009935"/>
          </a:xfrm>
          <a:custGeom>
            <a:avLst/>
            <a:gdLst/>
            <a:ahLst/>
            <a:cxnLst/>
            <a:rect r="r" b="b" t="t" l="l"/>
            <a:pathLst>
              <a:path h="4009935" w="4009935">
                <a:moveTo>
                  <a:pt x="0" y="0"/>
                </a:moveTo>
                <a:lnTo>
                  <a:pt x="4009935" y="0"/>
                </a:lnTo>
                <a:lnTo>
                  <a:pt x="4009935" y="4009935"/>
                </a:lnTo>
                <a:lnTo>
                  <a:pt x="0" y="400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49361" y="548794"/>
            <a:ext cx="959812" cy="95981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B8BB8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96857" y="3284214"/>
            <a:ext cx="14166761" cy="40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​​Anónimo. (10 de Marzo de 2025). Árbol (informática). Obtenido de Wikipedia: https://es.wikipedia.org/wiki/%C3%81rbol_%28inform%C3%A1tica%29</a:t>
            </a:r>
          </a:p>
          <a:p>
            <a:pPr algn="ctr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 </a:t>
            </a:r>
          </a:p>
          <a:p>
            <a:pPr algn="ctr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​Anónimo. (2025). Tree. Obtenido de VitaDemy: https://vitademyglobal.com/computer-science/tree/ </a:t>
            </a:r>
          </a:p>
          <a:p>
            <a:pPr algn="ctr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​​​ </a:t>
            </a:r>
          </a:p>
          <a:p>
            <a:pPr algn="ctr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Anónimo. (23 de Julio de 2025). Advantages and Disadvantages of Tree(informática). Obtenido de GeeksforGeeks: https://es.wikipedia.org/wiki/%C3%81rbol_%28inform%C3%A1tica%29 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871078" y="749787"/>
            <a:ext cx="8618319" cy="2095615"/>
            <a:chOff x="0" y="0"/>
            <a:chExt cx="2269845" cy="551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9845" cy="551932"/>
            </a:xfrm>
            <a:custGeom>
              <a:avLst/>
              <a:gdLst/>
              <a:ahLst/>
              <a:cxnLst/>
              <a:rect r="r" b="b" t="t" l="l"/>
              <a:pathLst>
                <a:path h="551932" w="2269845">
                  <a:moveTo>
                    <a:pt x="45814" y="0"/>
                  </a:moveTo>
                  <a:lnTo>
                    <a:pt x="2224031" y="0"/>
                  </a:lnTo>
                  <a:cubicBezTo>
                    <a:pt x="2236182" y="0"/>
                    <a:pt x="2247835" y="4827"/>
                    <a:pt x="2256427" y="13419"/>
                  </a:cubicBezTo>
                  <a:cubicBezTo>
                    <a:pt x="2265019" y="22010"/>
                    <a:pt x="2269845" y="33663"/>
                    <a:pt x="2269845" y="45814"/>
                  </a:cubicBezTo>
                  <a:lnTo>
                    <a:pt x="2269845" y="506118"/>
                  </a:lnTo>
                  <a:cubicBezTo>
                    <a:pt x="2269845" y="531420"/>
                    <a:pt x="2249334" y="551932"/>
                    <a:pt x="2224031" y="551932"/>
                  </a:cubicBezTo>
                  <a:lnTo>
                    <a:pt x="45814" y="551932"/>
                  </a:lnTo>
                  <a:cubicBezTo>
                    <a:pt x="20512" y="551932"/>
                    <a:pt x="0" y="531420"/>
                    <a:pt x="0" y="506118"/>
                  </a:cubicBezTo>
                  <a:lnTo>
                    <a:pt x="0" y="45814"/>
                  </a:lnTo>
                  <a:cubicBezTo>
                    <a:pt x="0" y="20512"/>
                    <a:pt x="20512" y="0"/>
                    <a:pt x="45814" y="0"/>
                  </a:cubicBezTo>
                  <a:close/>
                </a:path>
              </a:pathLst>
            </a:custGeom>
            <a:solidFill>
              <a:srgbClr val="B8BB8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69845" cy="599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489315" y="933641"/>
            <a:ext cx="7309370" cy="15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312E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Bibliografias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DAG7Elqakvc</dc:identifier>
  <dcterms:modified xsi:type="dcterms:W3CDTF">2011-08-01T06:04:30Z</dcterms:modified>
  <cp:revision>1</cp:revision>
  <dc:title>P2_Exp1_28436_Andrade_Bonilla_Quiroz_Tiupul_G2</dc:title>
</cp:coreProperties>
</file>